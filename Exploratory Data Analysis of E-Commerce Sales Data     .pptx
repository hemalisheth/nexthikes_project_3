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Nunito-boldItalic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2342ce9f0b98e6d4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2342ce9f0b98e6d4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2342ce9f0b98e6d4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h2342ce9f0b98e6d4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2342ce9f0b98e6d4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2342ce9f0b98e6d4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2342ce9f0b98e6d4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h2342ce9f0b98e6d4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2342ce9f0b98e6d4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2342ce9f0b98e6d4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2342ce9f0b98e6d4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2342ce9f0b98e6d4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2342ce9f0b98e6d4_1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2342ce9f0b98e6d4_1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2342ce9f0b98e6d4_1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h2342ce9f0b98e6d4_1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2342ce9f0b98e6d4_15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2342ce9f0b98e6d4_15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2342ce9f0b98e6d4_15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h2342ce9f0b98e6d4_15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2342ce9f0b98e6d4_15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h2342ce9f0b98e6d4_1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2342ce9f0b98e6d4_15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h2342ce9f0b98e6d4_1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2342ce9f0b98e6d4_15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2342ce9f0b98e6d4_15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2342ce9f0b98e6d4_15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2342ce9f0b98e6d4_15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342ce9f0b98e6d4_15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2342ce9f0b98e6d4_15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FC5E8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315000" y="1399500"/>
            <a:ext cx="87531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latin typeface="Georgia"/>
                <a:ea typeface="Georgia"/>
                <a:cs typeface="Georgia"/>
                <a:sym typeface="Georgia"/>
              </a:rPr>
              <a:t>Exploratory Data Analysis of E-Commerce Sales Data</a:t>
            </a:r>
            <a:endParaRPr sz="26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Georgia"/>
                <a:ea typeface="Georgia"/>
                <a:cs typeface="Georgia"/>
                <a:sym typeface="Georgia"/>
              </a:rPr>
              <a:t>Presented by: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Georgia"/>
                <a:ea typeface="Georgia"/>
                <a:cs typeface="Georgia"/>
                <a:sym typeface="Georgia"/>
              </a:rPr>
              <a:t>Hemali Sheth NextHikes IT Solutions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title"/>
          </p:nvPr>
        </p:nvSpPr>
        <p:spPr>
          <a:xfrm>
            <a:off x="1290400" y="1736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129675" y="824725"/>
            <a:ext cx="7030500" cy="3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/>
              <a:t>Understanding Customer &amp; Sales Behaviour</a:t>
            </a:r>
            <a:endParaRPr b="1" sz="19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The objective of this project is to analyze e-commerce sales data and identify meaningful patterns in: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* Customer demographics and purchasing behaviour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* Product categories and sales performance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* Order value, quantity and discount patterns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* Payment, shipping and delivery behaviour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* Relationships between different business variables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Business Goal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/>
              <a:t>To convert raw sales data into clear business insights that can support better decision-making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318375" y="143150"/>
            <a:ext cx="70305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254550" y="616125"/>
            <a:ext cx="8634900" cy="4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 u="sng"/>
              <a:t>E- Sal</a:t>
            </a:r>
            <a:r>
              <a:rPr b="1" lang="en" sz="9600" u="sng"/>
              <a:t>es Dataset </a:t>
            </a:r>
            <a:endParaRPr b="1" sz="96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 u="sng"/>
              <a:t>Dataset Size</a:t>
            </a:r>
            <a:endParaRPr b="1" sz="5600" u="sng"/>
          </a:p>
          <a:p>
            <a:pPr indent="-3441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610 Rows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18 Columns</a:t>
            </a:r>
            <a:endParaRPr b="1" sz="5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 u="sng"/>
              <a:t>Data Covers</a:t>
            </a:r>
            <a:endParaRPr b="1" sz="5600" u="sng"/>
          </a:p>
          <a:p>
            <a:pPr indent="-34417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Customer information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Order details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Product &amp; pricing information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Discounts and final sales value</a:t>
            </a:r>
            <a:r>
              <a:rPr b="1" lang="en" sz="5600"/>
              <a:t>Commerce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Payment &amp; shipping details</a:t>
            </a:r>
            <a:endParaRPr b="1" sz="5600"/>
          </a:p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b="1" lang="en" sz="5600"/>
              <a:t>Delivery and return information</a:t>
            </a:r>
            <a:endParaRPr b="1" sz="5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1135900" y="207750"/>
            <a:ext cx="7030500" cy="42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Key Variables</a:t>
            </a:r>
            <a:endParaRPr b="1"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Customer: Age, Gender, City, State, Customer Type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Sales: Product Price, Quantity, Discount, Final Price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Operations: Payment Method, Shipping Type, Delivery Days, Return Status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Purpose:</a:t>
            </a:r>
            <a:endParaRPr b="1"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To understand customer behaviour, sales patterns and operational performance through data analysis.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title"/>
          </p:nvPr>
        </p:nvSpPr>
        <p:spPr>
          <a:xfrm>
            <a:off x="1303800" y="12990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 &amp; DATA QUALITY</a:t>
            </a:r>
            <a:endParaRPr/>
          </a:p>
        </p:txBody>
      </p:sp>
      <p:sp>
        <p:nvSpPr>
          <p:cNvPr id="300" name="Google Shape;300;p17"/>
          <p:cNvSpPr txBox="1"/>
          <p:nvPr>
            <p:ph idx="1" type="body"/>
          </p:nvPr>
        </p:nvSpPr>
        <p:spPr>
          <a:xfrm>
            <a:off x="1303800" y="776275"/>
            <a:ext cx="7030500" cy="40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Data Quality Checks</a:t>
            </a:r>
            <a:endParaRPr b="1" sz="16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Missing Values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 No missing values found in the dataset.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/>
              <a:t>Data Structure</a:t>
            </a:r>
            <a:endParaRPr b="1" sz="1600" u="sng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610 records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18 variables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Numeric and categorical variables are present.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/>
              <a:t>Duplicate Check</a:t>
            </a:r>
            <a:endParaRPr b="1" sz="1600" u="sng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Duplicate records were checked before analysis.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2C4C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idx="1" type="body"/>
          </p:nvPr>
        </p:nvSpPr>
        <p:spPr>
          <a:xfrm>
            <a:off x="978950" y="216900"/>
            <a:ext cx="7030500" cy="4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Data Understanding</a:t>
            </a:r>
            <a:endParaRPr b="1"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Customer, product, sales, payment, shipping and return-related fields were examined.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Result</a:t>
            </a:r>
            <a:endParaRPr b="1"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The dataset was sufficiently structured and ready for Exploratory Data Analysis.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/>
          <p:nvPr>
            <p:ph type="title"/>
          </p:nvPr>
        </p:nvSpPr>
        <p:spPr>
          <a:xfrm>
            <a:off x="220825" y="1028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&amp; SALES OVERVIEW</a:t>
            </a:r>
            <a:endParaRPr/>
          </a:p>
        </p:txBody>
      </p:sp>
      <p:sp>
        <p:nvSpPr>
          <p:cNvPr id="311" name="Google Shape;311;p19"/>
          <p:cNvSpPr txBox="1"/>
          <p:nvPr>
            <p:ph idx="1" type="body"/>
          </p:nvPr>
        </p:nvSpPr>
        <p:spPr>
          <a:xfrm>
            <a:off x="342650" y="758175"/>
            <a:ext cx="4394700" cy="4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3" u="sng"/>
              <a:t>What does the customer base look like?</a:t>
            </a:r>
            <a:endParaRPr b="1" sz="1653" u="sng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arenR"/>
            </a:pPr>
            <a:r>
              <a:rPr b="1" lang="en" sz="1500"/>
              <a:t>Key Analysis</a:t>
            </a:r>
            <a:endParaRPr b="1" sz="15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Customer distribution was analyzed across different demographic categories.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Sales were compared across product categories.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This helps identify where customers are concentrated and which categories contribute more to sales value.</a:t>
            </a:r>
            <a:endParaRPr b="1"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arenR"/>
            </a:pPr>
            <a:r>
              <a:rPr b="1" lang="en" sz="1600"/>
              <a:t>Key Finding</a:t>
            </a:r>
            <a:endParaRPr b="1"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b="1" lang="en" sz="1500"/>
              <a:t>Home &amp; Kitchen recorded the highest total sales value among the product categories analyzed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7350" y="758175"/>
            <a:ext cx="4101849" cy="34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>
            <p:ph type="title"/>
          </p:nvPr>
        </p:nvSpPr>
        <p:spPr>
          <a:xfrm>
            <a:off x="97300" y="0"/>
            <a:ext cx="70305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&amp; PAYMENT BEHAVIOUR</a:t>
            </a:r>
            <a:endParaRPr/>
          </a:p>
        </p:txBody>
      </p:sp>
      <p:sp>
        <p:nvSpPr>
          <p:cNvPr id="318" name="Google Shape;318;p20"/>
          <p:cNvSpPr txBox="1"/>
          <p:nvPr>
            <p:ph idx="1" type="body"/>
          </p:nvPr>
        </p:nvSpPr>
        <p:spPr>
          <a:xfrm>
            <a:off x="269875" y="651000"/>
            <a:ext cx="5238900" cy="43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u="sng"/>
              <a:t>How do customers choose their payment methods?</a:t>
            </a:r>
            <a:endParaRPr b="1" sz="17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The analysis compares customer types with their preferred payment methods to understand transaction behaviour.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 u="sng"/>
              <a:t>Key Areas</a:t>
            </a:r>
            <a:endParaRPr b="1" sz="1700" u="sng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Customer Type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Payment Method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Number of Orders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 u="sng"/>
              <a:t>Business Relevance</a:t>
            </a:r>
            <a:endParaRPr b="1" sz="17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Understanding payment preferences can help businesses improve the checkout experience and provide suitable payment options for different customer groups.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575" y="651000"/>
            <a:ext cx="3673925" cy="43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"/>
          <p:cNvSpPr txBox="1"/>
          <p:nvPr>
            <p:ph type="title"/>
          </p:nvPr>
        </p:nvSpPr>
        <p:spPr>
          <a:xfrm>
            <a:off x="70950" y="0"/>
            <a:ext cx="70305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RELATIONSHIPS</a:t>
            </a:r>
            <a:endParaRPr/>
          </a:p>
        </p:txBody>
      </p:sp>
      <p:sp>
        <p:nvSpPr>
          <p:cNvPr id="325" name="Google Shape;325;p21"/>
          <p:cNvSpPr txBox="1"/>
          <p:nvPr>
            <p:ph idx="1" type="body"/>
          </p:nvPr>
        </p:nvSpPr>
        <p:spPr>
          <a:xfrm>
            <a:off x="190275" y="607800"/>
            <a:ext cx="5761800" cy="43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510" u="sng"/>
              <a:t>What factors are closely related to Sales Value?</a:t>
            </a:r>
            <a:endParaRPr b="1" sz="1510" u="sng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/>
              <a:t>The analysis examines the relationship between product price, order quantity and final sales value.</a:t>
            </a:r>
            <a:endParaRPr b="1"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510" u="sng"/>
              <a:t>Key Findings</a:t>
            </a:r>
            <a:endParaRPr b="1" sz="1510" u="sng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/>
              <a:t>Product Price → Final Price</a:t>
            </a:r>
            <a:endParaRPr b="1"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/>
              <a:t>A strong positive relationship was observed between product price and final price.</a:t>
            </a:r>
            <a:endParaRPr b="1"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/>
              <a:t>Quantity → Final Price</a:t>
            </a:r>
            <a:endParaRPr b="1"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310"/>
              <a:t>A moderate positive relationship was observed between order quantity and final price.</a:t>
            </a:r>
            <a:endParaRPr b="1" sz="13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510" u="sng"/>
              <a:t>Business Relevance</a:t>
            </a:r>
            <a:endParaRPr b="1" sz="1510" u="sng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b="1" lang="en" sz="1310"/>
              <a:t>Higher-priced products and larger order quantities are generally associated with higher transaction values.</a:t>
            </a:r>
            <a:endParaRPr b="1" sz="1310"/>
          </a:p>
        </p:txBody>
      </p:sp>
      <p:pic>
        <p:nvPicPr>
          <p:cNvPr id="326" name="Google Shape;3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4475" y="760200"/>
            <a:ext cx="2887125" cy="34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40400" y="0"/>
            <a:ext cx="7030500" cy="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ANALYSIS</a:t>
            </a:r>
            <a:endParaRPr/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40400" y="610800"/>
            <a:ext cx="5431800" cy="45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100" u="sng"/>
              <a:t>I</a:t>
            </a:r>
            <a:r>
              <a:rPr b="1" lang="en" sz="5700" u="sng"/>
              <a:t>dentifying Unusual Data Points</a:t>
            </a:r>
            <a:endParaRPr b="1" sz="57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/>
              <a:t>Box plots were used to identify unusually high or low values in important numeric variables.</a:t>
            </a:r>
            <a:endParaRPr b="1" sz="5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 u="sng"/>
              <a:t>Variables Analysed</a:t>
            </a:r>
            <a:endParaRPr b="1" sz="5700" u="sng"/>
          </a:p>
          <a:p>
            <a:pPr indent="-31908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5700"/>
              <a:t>Age</a:t>
            </a:r>
            <a:endParaRPr b="1" sz="5700"/>
          </a:p>
          <a:p>
            <a:pPr indent="-3190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700"/>
              <a:t>Quantity</a:t>
            </a:r>
            <a:endParaRPr b="1" sz="5700"/>
          </a:p>
          <a:p>
            <a:pPr indent="-3190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700"/>
              <a:t>Discount Percentage</a:t>
            </a:r>
            <a:endParaRPr b="1" sz="5700"/>
          </a:p>
          <a:p>
            <a:pPr indent="-3190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5700"/>
              <a:t>Delivery Days</a:t>
            </a:r>
            <a:endParaRPr b="1" sz="5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 u="sng"/>
              <a:t>Why It Matters</a:t>
            </a:r>
            <a:endParaRPr b="1" sz="57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/>
              <a:t>Outlier analysis helps identify unusual customer behaviour, order quantities, discounts and delivery durations that may require further investigation.</a:t>
            </a:r>
            <a:endParaRPr b="1" sz="5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 u="sng"/>
              <a:t>Key Finding</a:t>
            </a:r>
            <a:endParaRPr b="1" sz="57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700"/>
              <a:t>Age showed a relatively normal distribution with no major outlier concern</a:t>
            </a:r>
            <a:endParaRPr b="1" sz="5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700" y="709625"/>
            <a:ext cx="3267000" cy="38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65275" y="76175"/>
            <a:ext cx="7030500" cy="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&amp; KEY RELATIONSHIPS</a:t>
            </a:r>
            <a:endParaRPr/>
          </a:p>
        </p:txBody>
      </p:sp>
      <p:sp>
        <p:nvSpPr>
          <p:cNvPr id="339" name="Google Shape;339;p23"/>
          <p:cNvSpPr txBox="1"/>
          <p:nvPr>
            <p:ph idx="1" type="body"/>
          </p:nvPr>
        </p:nvSpPr>
        <p:spPr>
          <a:xfrm>
            <a:off x="165275" y="656375"/>
            <a:ext cx="7030500" cy="4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/>
              <a:t>Understanding Relationships Between Variables</a:t>
            </a:r>
            <a:endParaRPr b="1" sz="16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Correlation analysis was used to identify how numeric variables are related to each other.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/>
              <a:t>Key Findings</a:t>
            </a:r>
            <a:endParaRPr b="1" sz="16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- Product Price &amp; Final Price: Strong positive relationship (0.73)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- Quantity &amp; Final Price: Moderate positive relationship (0.58)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- Discount &amp; Final Price: Weak negative relationship (-0.14)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- Age &amp; Final Price: Almost no linear relationship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/>
              <a:t>Key Takeaway</a:t>
            </a:r>
            <a:endParaRPr b="1" sz="16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/>
              <a:t>P</a:t>
            </a:r>
            <a:r>
              <a:rPr b="1" lang="en" sz="1500"/>
              <a:t>roduct price and order quantity show stronger relationships with final sales value than age or discount.</a:t>
            </a:r>
            <a:endParaRPr b="1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25" y="254500"/>
            <a:ext cx="5762924" cy="475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151875" y="76175"/>
            <a:ext cx="7030500" cy="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ANALYSIS</a:t>
            </a:r>
            <a:endParaRPr/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259025" y="656375"/>
            <a:ext cx="8634900" cy="4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600" u="sng"/>
              <a:t>Understanding the Shape of the Data</a:t>
            </a:r>
            <a:endParaRPr b="1" sz="1600" u="sng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Skewness and kurtosis were used to understand the distribution and behaviour of important numeric variables.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600" u="sng"/>
              <a:t>Key Findings</a:t>
            </a:r>
            <a:endParaRPr b="1" sz="1600" u="sng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- Final Price: Moderately right-skewed, indicating some comparatively high-value transactions.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- Age: Nearly symmetric distribution.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- Product Price &amp; Quantity: Approximately symmetric distributions.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- Delivery Days: Nearly symmetric distribution.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- Final Price Kurtosis: Close to normal kurtosis, with no extreme tail behaviour indicated by this measure.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600" u="sng"/>
              <a:t>Key Takeaway</a:t>
            </a:r>
            <a:endParaRPr b="1" sz="1600" u="sng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/>
              <a:t>Final Price shows the most noticeable distribution pattern among the key numeric variables.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71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type="title"/>
          </p:nvPr>
        </p:nvSpPr>
        <p:spPr>
          <a:xfrm>
            <a:off x="178650" y="0"/>
            <a:ext cx="70305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BUSINESS INSIGHTS</a:t>
            </a:r>
            <a:endParaRPr/>
          </a:p>
        </p:txBody>
      </p:sp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178650" y="522425"/>
            <a:ext cx="7030500" cy="4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703" u="sng"/>
              <a:t>What did the analysis reveal?</a:t>
            </a:r>
            <a:endParaRPr b="1" sz="1703" u="sng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1. Home &amp; Kitchen recorded the highest total sales value.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2. Product Price has a strong positive relationship with Final Price.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3. Order Quantity has a moderate positive relationship with Final Price.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4. Final Price shows a moderate right-skewed distribution.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5. Some transactions have comparatively higher sales values.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6. Age has almost no linear relationship with Final Price.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7. Delivery Days have almost no linear relationship with Final Price.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8. Customer groups show differences in their payment behaviour.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9. The dataset contains no missing values.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503"/>
              <a:t>10. Product pricing and order quantity show stronger relationships with sales value than age.</a:t>
            </a:r>
            <a:endParaRPr b="1" sz="150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203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0" y="0"/>
            <a:ext cx="90681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RECOMMENDATIONS &amp; CONCLUSION</a:t>
            </a:r>
            <a:endParaRPr/>
          </a:p>
        </p:txBody>
      </p:sp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0" y="516650"/>
            <a:ext cx="8117100" cy="4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905" u="sng"/>
              <a:t>Business Recommendations</a:t>
            </a:r>
            <a:endParaRPr b="1" sz="1905" u="sng"/>
          </a:p>
          <a:p>
            <a:pPr indent="-33051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5"/>
              <a:buChar char="●"/>
            </a:pPr>
            <a:r>
              <a:rPr b="1" lang="en" sz="1605"/>
              <a:t>Focus on categories with higher sales contribution.</a:t>
            </a:r>
            <a:endParaRPr b="1" sz="1605"/>
          </a:p>
          <a:p>
            <a:pPr indent="-33051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b="1" lang="en" sz="1605"/>
              <a:t>Monitor product pricing and order quantity to understand sales value.</a:t>
            </a:r>
            <a:endParaRPr b="1" sz="1605"/>
          </a:p>
          <a:p>
            <a:pPr indent="-33051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b="1" lang="en" sz="1605"/>
              <a:t>Review unusually high-value transactions for better business understanding.</a:t>
            </a:r>
            <a:endParaRPr b="1" sz="1605"/>
          </a:p>
          <a:p>
            <a:pPr indent="-33051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b="1" lang="en" sz="1605"/>
              <a:t>Use customer payment patterns to improve the checkout experience.</a:t>
            </a:r>
            <a:endParaRPr b="1" sz="1605"/>
          </a:p>
          <a:p>
            <a:pPr indent="-33051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5"/>
              <a:buChar char="●"/>
            </a:pPr>
            <a:r>
              <a:rPr b="1" lang="en" sz="1605"/>
              <a:t>Monitor delivery performance across different shipping methods.</a:t>
            </a:r>
            <a:endParaRPr b="1" sz="16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5" u="sng"/>
              <a:t>Conclusion</a:t>
            </a:r>
            <a:endParaRPr b="1" sz="1905" u="sng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5"/>
              <a:t>This project transformed raw e-commerce data into meaningful customer, sales and operational insights.</a:t>
            </a:r>
            <a:endParaRPr b="1" sz="16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5"/>
              <a:t>The analysis highlights the key factors associated with sales value and provides a data-driven foundation for better business decision-making.</a:t>
            </a:r>
            <a:endParaRPr b="1" sz="160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>
            <p:ph type="title"/>
          </p:nvPr>
        </p:nvSpPr>
        <p:spPr>
          <a:xfrm>
            <a:off x="1056750" y="2072100"/>
            <a:ext cx="70305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</a:t>
            </a:r>
            <a:r>
              <a:rPr lang="en" sz="3500"/>
              <a:t>THANK YOU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